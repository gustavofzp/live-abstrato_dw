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63" r:id="rId6"/>
    <p:sldId id="264" r:id="rId7"/>
    <p:sldId id="266" r:id="rId8"/>
    <p:sldId id="262" r:id="rId9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89AAAE-3E2E-4280-A497-C5610C2600B0}" v="1" dt="2025-01-21T11:56:58.6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>
      <p:cViewPr varScale="1">
        <p:scale>
          <a:sx n="64" d="100"/>
          <a:sy n="64" d="100"/>
        </p:scale>
        <p:origin x="239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Nagel - Comercial" userId="e4f20454-d137-40d2-bb94-9b4d386dc106" providerId="ADAL" clId="{C689AAAE-3E2E-4280-A497-C5610C2600B0}"/>
    <pc:docChg chg="undo custSel delSld modSld">
      <pc:chgData name="Nicolas Nagel - Comercial" userId="e4f20454-d137-40d2-bb94-9b4d386dc106" providerId="ADAL" clId="{C689AAAE-3E2E-4280-A497-C5610C2600B0}" dt="2025-01-21T12:04:09.908" v="787" actId="20577"/>
      <pc:docMkLst>
        <pc:docMk/>
      </pc:docMkLst>
      <pc:sldChg chg="modSp mod">
        <pc:chgData name="Nicolas Nagel - Comercial" userId="e4f20454-d137-40d2-bb94-9b4d386dc106" providerId="ADAL" clId="{C689AAAE-3E2E-4280-A497-C5610C2600B0}" dt="2025-01-21T11:55:40.364" v="30" actId="20577"/>
        <pc:sldMkLst>
          <pc:docMk/>
          <pc:sldMk cId="0" sldId="256"/>
        </pc:sldMkLst>
        <pc:spChg chg="mod">
          <ac:chgData name="Nicolas Nagel - Comercial" userId="e4f20454-d137-40d2-bb94-9b4d386dc106" providerId="ADAL" clId="{C689AAAE-3E2E-4280-A497-C5610C2600B0}" dt="2025-01-21T11:55:40.364" v="3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Nicolas Nagel - Comercial" userId="e4f20454-d137-40d2-bb94-9b4d386dc106" providerId="ADAL" clId="{C689AAAE-3E2E-4280-A497-C5610C2600B0}" dt="2025-01-21T11:56:47.751" v="36" actId="1076"/>
        <pc:sldMkLst>
          <pc:docMk/>
          <pc:sldMk cId="4102128455" sldId="263"/>
        </pc:sldMkLst>
        <pc:spChg chg="mod">
          <ac:chgData name="Nicolas Nagel - Comercial" userId="e4f20454-d137-40d2-bb94-9b4d386dc106" providerId="ADAL" clId="{C689AAAE-3E2E-4280-A497-C5610C2600B0}" dt="2025-01-21T11:56:00.657" v="31"/>
          <ac:spMkLst>
            <pc:docMk/>
            <pc:sldMk cId="4102128455" sldId="263"/>
            <ac:spMk id="5" creationId="{1F94FFF7-8BFE-9C67-F094-D7458DA220DD}"/>
          </ac:spMkLst>
        </pc:spChg>
        <pc:picChg chg="del">
          <ac:chgData name="Nicolas Nagel - Comercial" userId="e4f20454-d137-40d2-bb94-9b4d386dc106" providerId="ADAL" clId="{C689AAAE-3E2E-4280-A497-C5610C2600B0}" dt="2025-01-21T11:56:04.662" v="32" actId="478"/>
          <ac:picMkLst>
            <pc:docMk/>
            <pc:sldMk cId="4102128455" sldId="263"/>
            <ac:picMk id="7" creationId="{7C12C25A-5E0F-7EF1-6C2C-EAFD15342C16}"/>
          </ac:picMkLst>
        </pc:picChg>
        <pc:picChg chg="add mod">
          <ac:chgData name="Nicolas Nagel - Comercial" userId="e4f20454-d137-40d2-bb94-9b4d386dc106" providerId="ADAL" clId="{C689AAAE-3E2E-4280-A497-C5610C2600B0}" dt="2025-01-21T11:56:47.751" v="36" actId="1076"/>
          <ac:picMkLst>
            <pc:docMk/>
            <pc:sldMk cId="4102128455" sldId="263"/>
            <ac:picMk id="9" creationId="{B02AAFC8-B1B5-1A3C-89E4-0B9A2E04BD09}"/>
          </ac:picMkLst>
        </pc:picChg>
      </pc:sldChg>
      <pc:sldChg chg="addSp delSp modSp mod">
        <pc:chgData name="Nicolas Nagel - Comercial" userId="e4f20454-d137-40d2-bb94-9b4d386dc106" providerId="ADAL" clId="{C689AAAE-3E2E-4280-A497-C5610C2600B0}" dt="2025-01-21T12:02:41.500" v="748" actId="20577"/>
        <pc:sldMkLst>
          <pc:docMk/>
          <pc:sldMk cId="1407183963" sldId="264"/>
        </pc:sldMkLst>
        <pc:spChg chg="mod">
          <ac:chgData name="Nicolas Nagel - Comercial" userId="e4f20454-d137-40d2-bb94-9b4d386dc106" providerId="ADAL" clId="{C689AAAE-3E2E-4280-A497-C5610C2600B0}" dt="2025-01-21T11:56:51.891" v="38" actId="1076"/>
          <ac:spMkLst>
            <pc:docMk/>
            <pc:sldMk cId="1407183963" sldId="264"/>
            <ac:spMk id="3" creationId="{E01364AC-EFDB-0E84-7D69-8BF55B26D37A}"/>
          </ac:spMkLst>
        </pc:spChg>
        <pc:spChg chg="del">
          <ac:chgData name="Nicolas Nagel - Comercial" userId="e4f20454-d137-40d2-bb94-9b4d386dc106" providerId="ADAL" clId="{C689AAAE-3E2E-4280-A497-C5610C2600B0}" dt="2025-01-21T11:56:53.623" v="39" actId="478"/>
          <ac:spMkLst>
            <pc:docMk/>
            <pc:sldMk cId="1407183963" sldId="264"/>
            <ac:spMk id="7" creationId="{82B56FBD-23C8-14C5-6C15-E3CD2EA3A41A}"/>
          </ac:spMkLst>
        </pc:spChg>
        <pc:spChg chg="mod">
          <ac:chgData name="Nicolas Nagel - Comercial" userId="e4f20454-d137-40d2-bb94-9b4d386dc106" providerId="ADAL" clId="{C689AAAE-3E2E-4280-A497-C5610C2600B0}" dt="2025-01-21T12:02:41.500" v="748" actId="20577"/>
          <ac:spMkLst>
            <pc:docMk/>
            <pc:sldMk cId="1407183963" sldId="264"/>
            <ac:spMk id="9" creationId="{37EBE6BE-E1B1-513D-02F7-B75FA885C333}"/>
          </ac:spMkLst>
        </pc:spChg>
        <pc:picChg chg="del">
          <ac:chgData name="Nicolas Nagel - Comercial" userId="e4f20454-d137-40d2-bb94-9b4d386dc106" providerId="ADAL" clId="{C689AAAE-3E2E-4280-A497-C5610C2600B0}" dt="2025-01-21T11:56:55.270" v="40" actId="478"/>
          <ac:picMkLst>
            <pc:docMk/>
            <pc:sldMk cId="1407183963" sldId="264"/>
            <ac:picMk id="6" creationId="{4DBC9E3A-1F7E-0D6B-CF8F-228D084C90C1}"/>
          </ac:picMkLst>
        </pc:picChg>
        <pc:picChg chg="add mod">
          <ac:chgData name="Nicolas Nagel - Comercial" userId="e4f20454-d137-40d2-bb94-9b4d386dc106" providerId="ADAL" clId="{C689AAAE-3E2E-4280-A497-C5610C2600B0}" dt="2025-01-21T11:57:04.344" v="44" actId="1076"/>
          <ac:picMkLst>
            <pc:docMk/>
            <pc:sldMk cId="1407183963" sldId="264"/>
            <ac:picMk id="8" creationId="{15642340-DEBD-CD7C-8A7D-78B85EFBB233}"/>
          </ac:picMkLst>
        </pc:picChg>
      </pc:sldChg>
      <pc:sldChg chg="del">
        <pc:chgData name="Nicolas Nagel - Comercial" userId="e4f20454-d137-40d2-bb94-9b4d386dc106" providerId="ADAL" clId="{C689AAAE-3E2E-4280-A497-C5610C2600B0}" dt="2025-01-21T11:57:07.713" v="45" actId="2696"/>
        <pc:sldMkLst>
          <pc:docMk/>
          <pc:sldMk cId="708146658" sldId="265"/>
        </pc:sldMkLst>
      </pc:sldChg>
      <pc:sldChg chg="modSp mod">
        <pc:chgData name="Nicolas Nagel - Comercial" userId="e4f20454-d137-40d2-bb94-9b4d386dc106" providerId="ADAL" clId="{C689AAAE-3E2E-4280-A497-C5610C2600B0}" dt="2025-01-21T12:04:09.908" v="787" actId="20577"/>
        <pc:sldMkLst>
          <pc:docMk/>
          <pc:sldMk cId="3690337828" sldId="266"/>
        </pc:sldMkLst>
        <pc:spChg chg="mod">
          <ac:chgData name="Nicolas Nagel - Comercial" userId="e4f20454-d137-40d2-bb94-9b4d386dc106" providerId="ADAL" clId="{C689AAAE-3E2E-4280-A497-C5610C2600B0}" dt="2025-01-21T12:04:09.908" v="787" actId="20577"/>
          <ac:spMkLst>
            <pc:docMk/>
            <pc:sldMk cId="3690337828" sldId="266"/>
            <ac:spMk id="8" creationId="{6DFB6F11-2822-A9D9-C227-606ADC89BA3F}"/>
          </ac:spMkLst>
        </pc:spChg>
        <pc:spChg chg="mod">
          <ac:chgData name="Nicolas Nagel - Comercial" userId="e4f20454-d137-40d2-bb94-9b4d386dc106" providerId="ADAL" clId="{C689AAAE-3E2E-4280-A497-C5610C2600B0}" dt="2025-01-21T11:57:34.459" v="88" actId="20577"/>
          <ac:spMkLst>
            <pc:docMk/>
            <pc:sldMk cId="3690337828" sldId="266"/>
            <ac:spMk id="9" creationId="{405F6C84-3E50-B3A3-D83C-D83C932890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cs typeface="Neue Plak Extended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cs typeface="Neue Plak Extended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cs typeface="Neue Plak Extended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cs typeface="Neue Plak Extended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235" y="5235"/>
            <a:ext cx="20093940" cy="11298555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20093629" y="0"/>
                </a:moveTo>
                <a:lnTo>
                  <a:pt x="0" y="0"/>
                </a:lnTo>
                <a:lnTo>
                  <a:pt x="0" y="11298085"/>
                </a:lnTo>
                <a:lnTo>
                  <a:pt x="20093629" y="11298085"/>
                </a:lnTo>
                <a:lnTo>
                  <a:pt x="20093629" y="0"/>
                </a:lnTo>
                <a:close/>
              </a:path>
            </a:pathLst>
          </a:custGeom>
          <a:solidFill>
            <a:srgbClr val="F0E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0869" y="2898310"/>
            <a:ext cx="15970885" cy="228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cs typeface="Neue Plak Extended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samuel.oliveira@liveoficial.com.br" TargetMode="External"/><Relationship Id="rId2" Type="http://schemas.openxmlformats.org/officeDocument/2006/relationships/hyperlink" Target="mailto:nicolas.nagel@liveoficial.com.br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mailto:alan.rebello@liveoficial.com.br" TargetMode="External"/><Relationship Id="rId4" Type="http://schemas.openxmlformats.org/officeDocument/2006/relationships/hyperlink" Target="mailto:helito.roden@liveoficial.com.br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313" y="2345480"/>
            <a:ext cx="6000115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777091" y="2301875"/>
            <a:ext cx="10042835" cy="457048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pt-BR" sz="7400" b="1" dirty="0"/>
              <a:t>COMO UTILIZAR O DASHBOARD FATURAMENTO SEMANAL PEDIDOS</a:t>
            </a:r>
            <a:endParaRPr sz="7400" b="1" dirty="0"/>
          </a:p>
        </p:txBody>
      </p:sp>
      <p:sp>
        <p:nvSpPr>
          <p:cNvPr id="4" name="object 4"/>
          <p:cNvSpPr/>
          <p:nvPr/>
        </p:nvSpPr>
        <p:spPr>
          <a:xfrm>
            <a:off x="3671718" y="4683504"/>
            <a:ext cx="749935" cy="1941830"/>
          </a:xfrm>
          <a:custGeom>
            <a:avLst/>
            <a:gdLst/>
            <a:ahLst/>
            <a:cxnLst/>
            <a:rect l="l" t="t" r="r" b="b"/>
            <a:pathLst>
              <a:path w="749935" h="1941829">
                <a:moveTo>
                  <a:pt x="261573" y="0"/>
                </a:moveTo>
                <a:lnTo>
                  <a:pt x="0" y="0"/>
                </a:lnTo>
                <a:lnTo>
                  <a:pt x="0" y="1941553"/>
                </a:lnTo>
                <a:lnTo>
                  <a:pt x="723705" y="1941553"/>
                </a:lnTo>
                <a:lnTo>
                  <a:pt x="749851" y="1709016"/>
                </a:lnTo>
                <a:lnTo>
                  <a:pt x="261573" y="1709016"/>
                </a:lnTo>
                <a:lnTo>
                  <a:pt x="26157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83993" y="4683501"/>
            <a:ext cx="261620" cy="1941830"/>
          </a:xfrm>
          <a:custGeom>
            <a:avLst/>
            <a:gdLst/>
            <a:ahLst/>
            <a:cxnLst/>
            <a:rect l="l" t="t" r="r" b="b"/>
            <a:pathLst>
              <a:path w="261620" h="1941829">
                <a:moveTo>
                  <a:pt x="261583" y="0"/>
                </a:moveTo>
                <a:lnTo>
                  <a:pt x="0" y="0"/>
                </a:lnTo>
                <a:lnTo>
                  <a:pt x="0" y="1941553"/>
                </a:lnTo>
                <a:lnTo>
                  <a:pt x="261583" y="1941553"/>
                </a:lnTo>
                <a:lnTo>
                  <a:pt x="26158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84797" y="4683504"/>
            <a:ext cx="753110" cy="1941830"/>
          </a:xfrm>
          <a:custGeom>
            <a:avLst/>
            <a:gdLst/>
            <a:ahLst/>
            <a:cxnLst/>
            <a:rect l="l" t="t" r="r" b="b"/>
            <a:pathLst>
              <a:path w="753109" h="1941829">
                <a:moveTo>
                  <a:pt x="714993" y="0"/>
                </a:moveTo>
                <a:lnTo>
                  <a:pt x="0" y="0"/>
                </a:lnTo>
                <a:lnTo>
                  <a:pt x="0" y="1941553"/>
                </a:lnTo>
                <a:lnTo>
                  <a:pt x="720815" y="1941553"/>
                </a:lnTo>
                <a:lnTo>
                  <a:pt x="752804" y="1703194"/>
                </a:lnTo>
                <a:lnTo>
                  <a:pt x="261583" y="1703194"/>
                </a:lnTo>
                <a:lnTo>
                  <a:pt x="261583" y="1031790"/>
                </a:lnTo>
                <a:lnTo>
                  <a:pt x="691759" y="1031790"/>
                </a:lnTo>
                <a:lnTo>
                  <a:pt x="691759" y="793452"/>
                </a:lnTo>
                <a:lnTo>
                  <a:pt x="261583" y="793452"/>
                </a:lnTo>
                <a:lnTo>
                  <a:pt x="261583" y="241217"/>
                </a:lnTo>
                <a:lnTo>
                  <a:pt x="714993" y="241217"/>
                </a:lnTo>
                <a:lnTo>
                  <a:pt x="71499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16453" y="4683495"/>
            <a:ext cx="994410" cy="1941830"/>
          </a:xfrm>
          <a:custGeom>
            <a:avLst/>
            <a:gdLst/>
            <a:ahLst/>
            <a:cxnLst/>
            <a:rect l="l" t="t" r="r" b="b"/>
            <a:pathLst>
              <a:path w="994410" h="1941829">
                <a:moveTo>
                  <a:pt x="994022" y="0"/>
                </a:moveTo>
                <a:lnTo>
                  <a:pt x="717873" y="0"/>
                </a:lnTo>
                <a:lnTo>
                  <a:pt x="604547" y="831262"/>
                </a:lnTo>
                <a:lnTo>
                  <a:pt x="597896" y="885131"/>
                </a:lnTo>
                <a:lnTo>
                  <a:pt x="590802" y="939626"/>
                </a:lnTo>
                <a:lnTo>
                  <a:pt x="583361" y="994517"/>
                </a:lnTo>
                <a:lnTo>
                  <a:pt x="567836" y="1104584"/>
                </a:lnTo>
                <a:lnTo>
                  <a:pt x="536955" y="1319486"/>
                </a:lnTo>
                <a:lnTo>
                  <a:pt x="529843" y="1370795"/>
                </a:lnTo>
                <a:lnTo>
                  <a:pt x="523171" y="1420683"/>
                </a:lnTo>
                <a:lnTo>
                  <a:pt x="517037" y="1468923"/>
                </a:lnTo>
                <a:lnTo>
                  <a:pt x="511538" y="1515288"/>
                </a:lnTo>
                <a:lnTo>
                  <a:pt x="506774" y="1559549"/>
                </a:lnTo>
                <a:lnTo>
                  <a:pt x="502843" y="1601480"/>
                </a:lnTo>
                <a:lnTo>
                  <a:pt x="499921" y="1601480"/>
                </a:lnTo>
                <a:lnTo>
                  <a:pt x="496019" y="1557922"/>
                </a:lnTo>
                <a:lnTo>
                  <a:pt x="491342" y="1512249"/>
                </a:lnTo>
                <a:lnTo>
                  <a:pt x="485966" y="1464674"/>
                </a:lnTo>
                <a:lnTo>
                  <a:pt x="479971" y="1415409"/>
                </a:lnTo>
                <a:lnTo>
                  <a:pt x="473433" y="1364665"/>
                </a:lnTo>
                <a:lnTo>
                  <a:pt x="466430" y="1312654"/>
                </a:lnTo>
                <a:lnTo>
                  <a:pt x="451340" y="1205682"/>
                </a:lnTo>
                <a:lnTo>
                  <a:pt x="402974" y="876419"/>
                </a:lnTo>
                <a:lnTo>
                  <a:pt x="395275" y="822550"/>
                </a:lnTo>
                <a:lnTo>
                  <a:pt x="281918" y="0"/>
                </a:lnTo>
                <a:lnTo>
                  <a:pt x="0" y="0"/>
                </a:lnTo>
                <a:lnTo>
                  <a:pt x="340052" y="1941563"/>
                </a:lnTo>
                <a:lnTo>
                  <a:pt x="659770" y="1941563"/>
                </a:lnTo>
                <a:lnTo>
                  <a:pt x="994022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45947" y="4683506"/>
            <a:ext cx="264795" cy="1499870"/>
          </a:xfrm>
          <a:custGeom>
            <a:avLst/>
            <a:gdLst/>
            <a:ahLst/>
            <a:cxnLst/>
            <a:rect l="l" t="t" r="r" b="b"/>
            <a:pathLst>
              <a:path w="264795" h="1499870">
                <a:moveTo>
                  <a:pt x="264494" y="0"/>
                </a:moveTo>
                <a:lnTo>
                  <a:pt x="0" y="0"/>
                </a:lnTo>
                <a:lnTo>
                  <a:pt x="12083" y="1499744"/>
                </a:lnTo>
                <a:lnTo>
                  <a:pt x="252379" y="1499744"/>
                </a:lnTo>
                <a:lnTo>
                  <a:pt x="264494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45947" y="6386716"/>
            <a:ext cx="264795" cy="238760"/>
          </a:xfrm>
          <a:custGeom>
            <a:avLst/>
            <a:gdLst/>
            <a:ahLst/>
            <a:cxnLst/>
            <a:rect l="l" t="t" r="r" b="b"/>
            <a:pathLst>
              <a:path w="264795" h="238759">
                <a:moveTo>
                  <a:pt x="264494" y="0"/>
                </a:moveTo>
                <a:lnTo>
                  <a:pt x="0" y="0"/>
                </a:lnTo>
                <a:lnTo>
                  <a:pt x="0" y="238338"/>
                </a:lnTo>
                <a:lnTo>
                  <a:pt x="264494" y="238338"/>
                </a:lnTo>
                <a:lnTo>
                  <a:pt x="264494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2E1CA4E-4A18-A23B-1E37-D6836832E26D}"/>
              </a:ext>
            </a:extLst>
          </p:cNvPr>
          <p:cNvSpPr txBox="1">
            <a:spLocks/>
          </p:cNvSpPr>
          <p:nvPr/>
        </p:nvSpPr>
        <p:spPr>
          <a:xfrm>
            <a:off x="8517665" y="7004933"/>
            <a:ext cx="10042835" cy="63094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4000" dirty="0"/>
              <a:t>GUIA RÁPIDO PARA USUÁRIOS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B4FA4C7A-590A-80F7-80BA-923BFF96B86C}"/>
              </a:ext>
            </a:extLst>
          </p:cNvPr>
          <p:cNvSpPr/>
          <p:nvPr/>
        </p:nvSpPr>
        <p:spPr>
          <a:xfrm>
            <a:off x="1052050" y="10226675"/>
            <a:ext cx="18000000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09262A36-5364-60E5-7F77-3803B66BD301}"/>
              </a:ext>
            </a:extLst>
          </p:cNvPr>
          <p:cNvSpPr txBox="1">
            <a:spLocks/>
          </p:cNvSpPr>
          <p:nvPr/>
        </p:nvSpPr>
        <p:spPr>
          <a:xfrm>
            <a:off x="6940823" y="10438602"/>
            <a:ext cx="6222454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3000" b="1" dirty="0"/>
              <a:t>Nicolas Nagel |Operações de Varejo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B0CB157-338F-E69C-A89A-08AC64EDE2EF}"/>
              </a:ext>
            </a:extLst>
          </p:cNvPr>
          <p:cNvSpPr/>
          <p:nvPr/>
        </p:nvSpPr>
        <p:spPr>
          <a:xfrm>
            <a:off x="527050" y="3521075"/>
            <a:ext cx="12192000" cy="7239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01364AC-EFDB-0E84-7D69-8BF55B26D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1150" y="854075"/>
            <a:ext cx="6781800" cy="90024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b="1" dirty="0"/>
              <a:t>Acesso ao Dashboard</a:t>
            </a:r>
            <a:endParaRPr b="1" spc="-2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BB688D2-40D3-85EC-A40F-373ECBF89BAE}"/>
              </a:ext>
            </a:extLst>
          </p:cNvPr>
          <p:cNvSpPr/>
          <p:nvPr/>
        </p:nvSpPr>
        <p:spPr>
          <a:xfrm>
            <a:off x="18313" y="2345480"/>
            <a:ext cx="6000115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F94FFF7-8BFE-9C67-F094-D7458DA220DD}"/>
              </a:ext>
            </a:extLst>
          </p:cNvPr>
          <p:cNvSpPr txBox="1">
            <a:spLocks/>
          </p:cNvSpPr>
          <p:nvPr/>
        </p:nvSpPr>
        <p:spPr>
          <a:xfrm>
            <a:off x="204657" y="2751884"/>
            <a:ext cx="19881850" cy="63094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2000" dirty="0"/>
              <a:t>Para acessar ao Dashboard, abra o link: </a:t>
            </a:r>
            <a:r>
              <a:rPr lang="pt-BR" sz="2000" u="sng" dirty="0">
                <a:solidFill>
                  <a:schemeClr val="accent1"/>
                </a:solidFill>
              </a:rPr>
              <a:t>https://app.powerbi.com/view?r=eyJrIjoiOGUxOTQzOTktMzY2My00NzgxLThkZWEtNzU3NDMyNThiYzFiIiwidCI6IjFlZDE4MWUzLWJjNTQtNDAyYi1hZTBmLTI1NDk1NjZmZjMxNSJ9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DFB6F11-2822-A9D9-C227-606ADC89BA3F}"/>
              </a:ext>
            </a:extLst>
          </p:cNvPr>
          <p:cNvSpPr txBox="1">
            <a:spLocks/>
          </p:cNvSpPr>
          <p:nvPr/>
        </p:nvSpPr>
        <p:spPr>
          <a:xfrm>
            <a:off x="12947650" y="3779153"/>
            <a:ext cx="6155857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dirty="0">
                <a:latin typeface="Neue Plak Text Light"/>
                <a:cs typeface="Neue Plak Text Light"/>
              </a:rPr>
              <a:t>*O Dashboard pode ser acessado diretamente no navegador, ou utilize o aplicativo Power BI em seu dispositivo móvel.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02AAFC8-B1B5-1A3C-89E4-0B9A2E04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3617684"/>
            <a:ext cx="8610600" cy="70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2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5FD8537-0B24-C53B-D30C-6F6ACE52F273}"/>
              </a:ext>
            </a:extLst>
          </p:cNvPr>
          <p:cNvSpPr/>
          <p:nvPr/>
        </p:nvSpPr>
        <p:spPr>
          <a:xfrm>
            <a:off x="222250" y="3521075"/>
            <a:ext cx="8458200" cy="72390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01364AC-EFDB-0E84-7D69-8BF55B26D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61150" y="473075"/>
            <a:ext cx="7424524" cy="90024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b="1" dirty="0"/>
              <a:t>Principais Componentes</a:t>
            </a:r>
            <a:endParaRPr b="1" spc="-2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BB688D2-40D3-85EC-A40F-373ECBF89BAE}"/>
              </a:ext>
            </a:extLst>
          </p:cNvPr>
          <p:cNvSpPr/>
          <p:nvPr/>
        </p:nvSpPr>
        <p:spPr>
          <a:xfrm>
            <a:off x="18313" y="2345480"/>
            <a:ext cx="6000115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F94FFF7-8BFE-9C67-F094-D7458DA220DD}"/>
              </a:ext>
            </a:extLst>
          </p:cNvPr>
          <p:cNvSpPr txBox="1">
            <a:spLocks/>
          </p:cNvSpPr>
          <p:nvPr/>
        </p:nvSpPr>
        <p:spPr>
          <a:xfrm>
            <a:off x="2347054" y="2751884"/>
            <a:ext cx="15409993" cy="63094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2000" b="1" dirty="0"/>
              <a:t>Interface do usuário:</a:t>
            </a:r>
            <a:br>
              <a:rPr lang="pt-BR" sz="2000" dirty="0"/>
            </a:br>
            <a:r>
              <a:rPr lang="pt-BR" sz="2000" dirty="0"/>
              <a:t>O dashboard é composto por um filtro de representante, e as demais visões no centro. Veja a imagem a seguir para uma visão geral.</a:t>
            </a:r>
            <a:endParaRPr lang="pt-BR" sz="2000" u="sng" dirty="0">
              <a:solidFill>
                <a:schemeClr val="accent1"/>
              </a:solidFill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37EBE6BE-E1B1-513D-02F7-B75FA885C333}"/>
              </a:ext>
            </a:extLst>
          </p:cNvPr>
          <p:cNvSpPr txBox="1">
            <a:spLocks/>
          </p:cNvSpPr>
          <p:nvPr/>
        </p:nvSpPr>
        <p:spPr>
          <a:xfrm>
            <a:off x="8832850" y="3521075"/>
            <a:ext cx="11049001" cy="40293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l">
              <a:spcBef>
                <a:spcPts val="120"/>
              </a:spcBef>
            </a:pPr>
            <a:r>
              <a:rPr lang="pt-BR" sz="2000" b="1" dirty="0"/>
              <a:t>Filtros:</a:t>
            </a:r>
            <a:br>
              <a:rPr lang="pt-BR" sz="2000" dirty="0"/>
            </a:br>
            <a:r>
              <a:rPr lang="pt-BR" sz="2000" dirty="0"/>
              <a:t>O dashboard é composto por filtros de Depósito, Modalidade, Mês e Ano, ao aplicar o filtro os dados serão atualizados automaticamente.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Com esse relatório é possível identificar a tendências na sazonalidade das entradas do pedido. O % de faturamento durante as semanas e a pontualidade dos pedidos, bem como, quanto tempo demora para o pedido ser faturado completamente.</a:t>
            </a:r>
            <a:br>
              <a:rPr lang="pt-BR" sz="2000" dirty="0"/>
            </a:br>
            <a:br>
              <a:rPr lang="pt-BR" sz="2000" dirty="0"/>
            </a:br>
            <a:r>
              <a:rPr lang="pt-BR" sz="2000" dirty="0"/>
              <a:t>É possível identificar também, quais alterações que os pedidos tem durante o mês, qual o impacto e seu %. Podendo tomar decisões mais estratégicas e propor melhorias para reduzirem os impactos.</a:t>
            </a:r>
            <a:endParaRPr lang="pt-BR" sz="2000" b="1" dirty="0"/>
          </a:p>
          <a:p>
            <a:pPr marL="12700" algn="l">
              <a:spcBef>
                <a:spcPts val="120"/>
              </a:spcBef>
            </a:pPr>
            <a:br>
              <a:rPr lang="pt-BR" sz="2000" dirty="0"/>
            </a:br>
            <a:br>
              <a:rPr lang="pt-BR" sz="2000" dirty="0"/>
            </a:br>
            <a:endParaRPr lang="pt-BR" sz="20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5642340-DEBD-CD7C-8A7D-78B85EFBB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46" y="4083990"/>
            <a:ext cx="7604607" cy="622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8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E01364AC-EFDB-0E84-7D69-8BF55B26D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4025" y="854075"/>
            <a:ext cx="6496050" cy="90024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pt-BR" b="1" dirty="0"/>
              <a:t>Considerações Finais</a:t>
            </a:r>
            <a:endParaRPr b="1" spc="-2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4BB688D2-40D3-85EC-A40F-373ECBF89BAE}"/>
              </a:ext>
            </a:extLst>
          </p:cNvPr>
          <p:cNvSpPr/>
          <p:nvPr/>
        </p:nvSpPr>
        <p:spPr>
          <a:xfrm>
            <a:off x="18313" y="2345480"/>
            <a:ext cx="6000115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DFB6F11-2822-A9D9-C227-606ADC89BA3F}"/>
              </a:ext>
            </a:extLst>
          </p:cNvPr>
          <p:cNvSpPr txBox="1">
            <a:spLocks/>
          </p:cNvSpPr>
          <p:nvPr/>
        </p:nvSpPr>
        <p:spPr>
          <a:xfrm>
            <a:off x="1593850" y="2759075"/>
            <a:ext cx="172212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dirty="0">
                <a:latin typeface="Neue Plak Text Light"/>
                <a:cs typeface="Neue Plak Text Light"/>
              </a:rPr>
              <a:t>Conforme documentado, o dashboard foi construído com a finalidade de avaliar o faturamento semanal dos pedidos</a:t>
            </a:r>
            <a:endParaRPr lang="pt-BR" sz="2000" i="1" dirty="0">
              <a:latin typeface="Neue Plak Text Light"/>
              <a:cs typeface="Neue Plak Text Ligh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FF98FF76-FB35-85D6-06E4-3D6CCE59F4A3}"/>
              </a:ext>
            </a:extLst>
          </p:cNvPr>
          <p:cNvSpPr txBox="1">
            <a:spLocks/>
          </p:cNvSpPr>
          <p:nvPr/>
        </p:nvSpPr>
        <p:spPr>
          <a:xfrm>
            <a:off x="1593850" y="6437694"/>
            <a:ext cx="3505200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pt-BR" sz="3500" b="1" spc="-20" dirty="0"/>
              <a:t>Contato e Suporte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05F6C84-3E50-B3A3-D83C-D83C932890FB}"/>
              </a:ext>
            </a:extLst>
          </p:cNvPr>
          <p:cNvSpPr txBox="1">
            <a:spLocks/>
          </p:cNvSpPr>
          <p:nvPr/>
        </p:nvSpPr>
        <p:spPr>
          <a:xfrm>
            <a:off x="1593850" y="7081536"/>
            <a:ext cx="17221200" cy="2230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dirty="0">
                <a:latin typeface="Neue Plak Text Light"/>
                <a:cs typeface="Neue Plak Text Light"/>
              </a:rPr>
              <a:t>Para mais informações ou suporte, entre em contato com o Departamento de Operações de Varejo:</a:t>
            </a:r>
            <a:br>
              <a:rPr lang="pt-BR" sz="2000" dirty="0">
                <a:latin typeface="Neue Plak Text Light"/>
                <a:cs typeface="Neue Plak Text Light"/>
              </a:rPr>
            </a:br>
            <a:endParaRPr lang="pt-BR" sz="2000" dirty="0">
              <a:latin typeface="Neue Plak Text Light"/>
              <a:cs typeface="Neue Plak Text Light"/>
            </a:endParaRPr>
          </a:p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b="1" dirty="0">
                <a:latin typeface="Neue Plak Text Light"/>
                <a:cs typeface="Neue Plak Text Light"/>
              </a:rPr>
              <a:t>Criador do Relatório:</a:t>
            </a:r>
            <a:r>
              <a:rPr lang="pt-BR" sz="2000" dirty="0">
                <a:latin typeface="Neue Plak Text Light"/>
                <a:cs typeface="Neue Plak Text Light"/>
              </a:rPr>
              <a:t> Nicolas Nagel | </a:t>
            </a:r>
            <a:r>
              <a:rPr lang="pt-BR" sz="2000" dirty="0">
                <a:latin typeface="Neue Plak Text Light"/>
                <a:cs typeface="Neue Plak Text Light"/>
                <a:hlinkClick r:id="rId2"/>
              </a:rPr>
              <a:t>nicolas.nagel@liveoficial.com.br</a:t>
            </a:r>
            <a:endParaRPr lang="pt-BR" sz="2000" b="1" dirty="0">
              <a:latin typeface="Neue Plak Text Light"/>
              <a:cs typeface="Neue Plak Text Light"/>
            </a:endParaRPr>
          </a:p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b="1" dirty="0">
                <a:latin typeface="Neue Plak Text Light"/>
                <a:cs typeface="Neue Plak Text Light"/>
              </a:rPr>
              <a:t>Analista de Dados: </a:t>
            </a:r>
            <a:r>
              <a:rPr lang="pt-BR" sz="2000" dirty="0">
                <a:latin typeface="Neue Plak Text Light"/>
                <a:cs typeface="Neue Plak Text Light"/>
              </a:rPr>
              <a:t>Marcos Souza| </a:t>
            </a:r>
            <a:r>
              <a:rPr lang="pt-BR" sz="2000" dirty="0">
                <a:latin typeface="Neue Plak Text Light"/>
                <a:cs typeface="Neue Plak Text Light"/>
                <a:hlinkClick r:id="rId3"/>
              </a:rPr>
              <a:t>marcos.souza@liveoficial.com.br</a:t>
            </a:r>
            <a:endParaRPr lang="pt-BR" sz="2000" dirty="0">
              <a:latin typeface="Neue Plak Text Light"/>
              <a:cs typeface="Neue Plak Text Light"/>
            </a:endParaRPr>
          </a:p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b="1" dirty="0">
                <a:latin typeface="Neue Plak Text Light"/>
                <a:cs typeface="Neue Plak Text Light"/>
              </a:rPr>
              <a:t>Analista de Dados: </a:t>
            </a:r>
            <a:r>
              <a:rPr lang="pt-BR" sz="2000" dirty="0" err="1">
                <a:latin typeface="Neue Plak Text Light"/>
                <a:cs typeface="Neue Plak Text Light"/>
              </a:rPr>
              <a:t>Hélito</a:t>
            </a:r>
            <a:r>
              <a:rPr lang="pt-BR" sz="2000" dirty="0">
                <a:latin typeface="Neue Plak Text Light"/>
                <a:cs typeface="Neue Plak Text Light"/>
              </a:rPr>
              <a:t> Roden | </a:t>
            </a:r>
            <a:r>
              <a:rPr lang="pt-BR" sz="2000" dirty="0">
                <a:latin typeface="Neue Plak Text Light"/>
                <a:cs typeface="Neue Plak Text Light"/>
                <a:hlinkClick r:id="rId4"/>
              </a:rPr>
              <a:t>helito.roden@liveoficial.com.br</a:t>
            </a:r>
            <a:endParaRPr lang="pt-BR" sz="2000" dirty="0">
              <a:latin typeface="Neue Plak Text Light"/>
              <a:cs typeface="Neue Plak Text Light"/>
            </a:endParaRPr>
          </a:p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b="1" dirty="0">
                <a:latin typeface="Neue Plak Text Light"/>
                <a:cs typeface="Neue Plak Text Light"/>
              </a:rPr>
              <a:t>Coordenador Operações de Varejo: </a:t>
            </a:r>
            <a:r>
              <a:rPr lang="pt-BR" sz="2000" dirty="0">
                <a:latin typeface="Neue Plak Text Light"/>
                <a:cs typeface="Neue Plak Text Light"/>
              </a:rPr>
              <a:t>Alan Rebello | </a:t>
            </a:r>
            <a:r>
              <a:rPr lang="pt-BR" sz="2000" dirty="0">
                <a:latin typeface="Neue Plak Text Light"/>
                <a:cs typeface="Neue Plak Text Light"/>
                <a:hlinkClick r:id="rId5"/>
              </a:rPr>
              <a:t>alan.rebello@liveoficial.com.br</a:t>
            </a:r>
            <a:endParaRPr lang="pt-BR" sz="2000" dirty="0">
              <a:latin typeface="Neue Plak Text Light"/>
              <a:cs typeface="Neue Plak Text Light"/>
            </a:endParaRPr>
          </a:p>
          <a:p>
            <a:pPr marL="12700" marR="132080">
              <a:lnSpc>
                <a:spcPct val="100299"/>
              </a:lnSpc>
              <a:spcBef>
                <a:spcPts val="95"/>
              </a:spcBef>
            </a:pPr>
            <a:endParaRPr lang="pt-BR" sz="2000" dirty="0">
              <a:latin typeface="Neue Plak Text Light"/>
              <a:cs typeface="Neue Plak Text Light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1BD1B74-2946-F9F8-8817-CF8E4CCAAD87}"/>
              </a:ext>
            </a:extLst>
          </p:cNvPr>
          <p:cNvSpPr/>
          <p:nvPr/>
        </p:nvSpPr>
        <p:spPr>
          <a:xfrm>
            <a:off x="1052050" y="10226675"/>
            <a:ext cx="18000000" cy="20955"/>
          </a:xfrm>
          <a:custGeom>
            <a:avLst/>
            <a:gdLst/>
            <a:ahLst/>
            <a:cxnLst/>
            <a:rect l="l" t="t" r="r" b="b"/>
            <a:pathLst>
              <a:path w="6000115" h="20955">
                <a:moveTo>
                  <a:pt x="5999823" y="0"/>
                </a:moveTo>
                <a:lnTo>
                  <a:pt x="0" y="0"/>
                </a:lnTo>
                <a:lnTo>
                  <a:pt x="0" y="20942"/>
                </a:lnTo>
                <a:lnTo>
                  <a:pt x="5999823" y="20942"/>
                </a:lnTo>
                <a:lnTo>
                  <a:pt x="599982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B93695ED-C77D-282A-4569-21387A2DA1CC}"/>
              </a:ext>
            </a:extLst>
          </p:cNvPr>
          <p:cNvSpPr txBox="1">
            <a:spLocks/>
          </p:cNvSpPr>
          <p:nvPr/>
        </p:nvSpPr>
        <p:spPr>
          <a:xfrm>
            <a:off x="6940823" y="10438602"/>
            <a:ext cx="6222454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algn="ctr">
              <a:spcBef>
                <a:spcPts val="120"/>
              </a:spcBef>
            </a:pPr>
            <a:r>
              <a:rPr lang="pt-BR" sz="3000" b="1" dirty="0"/>
              <a:t>Nicolas Nagel |Operações de Varejo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5796A77E-32CB-4EA6-AB9A-FA2A5CFC8EF1}"/>
              </a:ext>
            </a:extLst>
          </p:cNvPr>
          <p:cNvSpPr txBox="1">
            <a:spLocks/>
          </p:cNvSpPr>
          <p:nvPr/>
        </p:nvSpPr>
        <p:spPr>
          <a:xfrm>
            <a:off x="1578756" y="4036339"/>
            <a:ext cx="172212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dirty="0">
                <a:latin typeface="Neue Plak Text Light"/>
                <a:cs typeface="Neue Plak Text Light"/>
              </a:rPr>
              <a:t>O relatório criado dispõe de valores reais das operações da empresa LIVE! o uso do relatório é de exclusividade dos colaboradores que solicitaram a criação. É expressamente proibido o compartilhamento do relatório com terceiros ou pessoas que não fazem parte/não estão envolvidas nas operações da empresa.</a:t>
            </a:r>
            <a:endParaRPr lang="pt-BR" sz="2000" i="1" dirty="0">
              <a:latin typeface="Neue Plak Text Light"/>
              <a:cs typeface="Neue Plak Text Light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218E0358-D899-EFD0-CA95-AB4EF25C2E9F}"/>
              </a:ext>
            </a:extLst>
          </p:cNvPr>
          <p:cNvSpPr txBox="1">
            <a:spLocks/>
          </p:cNvSpPr>
          <p:nvPr/>
        </p:nvSpPr>
        <p:spPr>
          <a:xfrm>
            <a:off x="1602490" y="3367569"/>
            <a:ext cx="3505200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pt-BR" sz="3500" b="1" spc="-20" dirty="0"/>
              <a:t>Segurança</a:t>
            </a:r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6D650BF1-AB58-3C8A-9274-C724DC9C0444}"/>
              </a:ext>
            </a:extLst>
          </p:cNvPr>
          <p:cNvSpPr txBox="1">
            <a:spLocks/>
          </p:cNvSpPr>
          <p:nvPr/>
        </p:nvSpPr>
        <p:spPr>
          <a:xfrm>
            <a:off x="1602490" y="4948277"/>
            <a:ext cx="6087360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>
              <a:spcBef>
                <a:spcPts val="120"/>
              </a:spcBef>
            </a:pPr>
            <a:r>
              <a:rPr lang="pt-BR" sz="3500" b="1" spc="-20" dirty="0"/>
              <a:t>Responsabilidade da Informação</a:t>
            </a: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99D2FF68-E355-0234-4086-8793866C0AAD}"/>
              </a:ext>
            </a:extLst>
          </p:cNvPr>
          <p:cNvSpPr txBox="1">
            <a:spLocks/>
          </p:cNvSpPr>
          <p:nvPr/>
        </p:nvSpPr>
        <p:spPr>
          <a:xfrm>
            <a:off x="1602490" y="5560339"/>
            <a:ext cx="172212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750" b="0" i="0">
                <a:solidFill>
                  <a:srgbClr val="020203"/>
                </a:solidFill>
                <a:latin typeface="Neue Plak Extended Regular"/>
                <a:ea typeface="+mj-ea"/>
                <a:cs typeface="Neue Plak Extended Regular"/>
              </a:defRPr>
            </a:lvl1pPr>
          </a:lstStyle>
          <a:p>
            <a:pPr marL="12700" marR="132080">
              <a:lnSpc>
                <a:spcPct val="100299"/>
              </a:lnSpc>
              <a:spcBef>
                <a:spcPts val="95"/>
              </a:spcBef>
            </a:pPr>
            <a:r>
              <a:rPr lang="pt-BR" sz="2000" dirty="0">
                <a:latin typeface="Neue Plak Text Light"/>
                <a:cs typeface="Neue Plak Text Light"/>
              </a:rPr>
              <a:t>As informações apresentadas no relatório foram analisadas pela equipe de Operações de Varejo e validadas com os usuários que vão utiliza-lo. Qualquer dúvida ou solicitação deve ser direcionada aos responsáveis pela criação do relatório.</a:t>
            </a:r>
          </a:p>
        </p:txBody>
      </p:sp>
    </p:spTree>
    <p:extLst>
      <p:ext uri="{BB962C8B-B14F-4D97-AF65-F5344CB8AC3E}">
        <p14:creationId xmlns:p14="http://schemas.microsoft.com/office/powerpoint/2010/main" val="3690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91230" y="9113502"/>
            <a:ext cx="3114675" cy="692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066165">
              <a:lnSpc>
                <a:spcPct val="101800"/>
              </a:lnSpc>
              <a:spcBef>
                <a:spcPts val="90"/>
              </a:spcBef>
            </a:pPr>
            <a:r>
              <a:rPr sz="2150" b="1" spc="-10" dirty="0">
                <a:solidFill>
                  <a:srgbClr val="020203"/>
                </a:solidFill>
                <a:latin typeface="Neue Plak Extended Bold"/>
                <a:cs typeface="Neue Plak Extended Bold"/>
              </a:rPr>
              <a:t>@LIVEOFICIAL LIVEOFICIAL.COM.BR</a:t>
            </a:r>
            <a:endParaRPr sz="2150">
              <a:latin typeface="Neue Plak Extended Bold"/>
              <a:cs typeface="Neue Plak Extended Bold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982681" y="4683504"/>
            <a:ext cx="749935" cy="1941830"/>
          </a:xfrm>
          <a:custGeom>
            <a:avLst/>
            <a:gdLst/>
            <a:ahLst/>
            <a:cxnLst/>
            <a:rect l="l" t="t" r="r" b="b"/>
            <a:pathLst>
              <a:path w="749934" h="1941829">
                <a:moveTo>
                  <a:pt x="261583" y="0"/>
                </a:moveTo>
                <a:lnTo>
                  <a:pt x="0" y="0"/>
                </a:lnTo>
                <a:lnTo>
                  <a:pt x="0" y="1941553"/>
                </a:lnTo>
                <a:lnTo>
                  <a:pt x="723705" y="1941553"/>
                </a:lnTo>
                <a:lnTo>
                  <a:pt x="749861" y="1709016"/>
                </a:lnTo>
                <a:lnTo>
                  <a:pt x="261583" y="1709016"/>
                </a:lnTo>
                <a:lnTo>
                  <a:pt x="26158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4961" y="4683501"/>
            <a:ext cx="261620" cy="1941830"/>
          </a:xfrm>
          <a:custGeom>
            <a:avLst/>
            <a:gdLst/>
            <a:ahLst/>
            <a:cxnLst/>
            <a:rect l="l" t="t" r="r" b="b"/>
            <a:pathLst>
              <a:path w="261620" h="1941829">
                <a:moveTo>
                  <a:pt x="261583" y="0"/>
                </a:moveTo>
                <a:lnTo>
                  <a:pt x="0" y="0"/>
                </a:lnTo>
                <a:lnTo>
                  <a:pt x="0" y="1941553"/>
                </a:lnTo>
                <a:lnTo>
                  <a:pt x="261583" y="1941553"/>
                </a:lnTo>
                <a:lnTo>
                  <a:pt x="26158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95768" y="4683504"/>
            <a:ext cx="753110" cy="1941830"/>
          </a:xfrm>
          <a:custGeom>
            <a:avLst/>
            <a:gdLst/>
            <a:ahLst/>
            <a:cxnLst/>
            <a:rect l="l" t="t" r="r" b="b"/>
            <a:pathLst>
              <a:path w="753109" h="1941829">
                <a:moveTo>
                  <a:pt x="714993" y="0"/>
                </a:moveTo>
                <a:lnTo>
                  <a:pt x="0" y="0"/>
                </a:lnTo>
                <a:lnTo>
                  <a:pt x="0" y="1941553"/>
                </a:lnTo>
                <a:lnTo>
                  <a:pt x="720815" y="1941553"/>
                </a:lnTo>
                <a:lnTo>
                  <a:pt x="752804" y="1703194"/>
                </a:lnTo>
                <a:lnTo>
                  <a:pt x="261573" y="1703194"/>
                </a:lnTo>
                <a:lnTo>
                  <a:pt x="261573" y="1031790"/>
                </a:lnTo>
                <a:lnTo>
                  <a:pt x="691748" y="1031790"/>
                </a:lnTo>
                <a:lnTo>
                  <a:pt x="691748" y="793452"/>
                </a:lnTo>
                <a:lnTo>
                  <a:pt x="261573" y="793452"/>
                </a:lnTo>
                <a:lnTo>
                  <a:pt x="261573" y="241217"/>
                </a:lnTo>
                <a:lnTo>
                  <a:pt x="714993" y="241217"/>
                </a:lnTo>
                <a:lnTo>
                  <a:pt x="714993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7423" y="4683495"/>
            <a:ext cx="994410" cy="1941830"/>
          </a:xfrm>
          <a:custGeom>
            <a:avLst/>
            <a:gdLst/>
            <a:ahLst/>
            <a:cxnLst/>
            <a:rect l="l" t="t" r="r" b="b"/>
            <a:pathLst>
              <a:path w="994409" h="1941829">
                <a:moveTo>
                  <a:pt x="994022" y="0"/>
                </a:moveTo>
                <a:lnTo>
                  <a:pt x="717873" y="0"/>
                </a:lnTo>
                <a:lnTo>
                  <a:pt x="604547" y="831262"/>
                </a:lnTo>
                <a:lnTo>
                  <a:pt x="597896" y="885131"/>
                </a:lnTo>
                <a:lnTo>
                  <a:pt x="590802" y="939626"/>
                </a:lnTo>
                <a:lnTo>
                  <a:pt x="583361" y="994517"/>
                </a:lnTo>
                <a:lnTo>
                  <a:pt x="567836" y="1104584"/>
                </a:lnTo>
                <a:lnTo>
                  <a:pt x="536953" y="1319486"/>
                </a:lnTo>
                <a:lnTo>
                  <a:pt x="529840" y="1370795"/>
                </a:lnTo>
                <a:lnTo>
                  <a:pt x="523167" y="1420683"/>
                </a:lnTo>
                <a:lnTo>
                  <a:pt x="517031" y="1468923"/>
                </a:lnTo>
                <a:lnTo>
                  <a:pt x="511532" y="1515288"/>
                </a:lnTo>
                <a:lnTo>
                  <a:pt x="506766" y="1559549"/>
                </a:lnTo>
                <a:lnTo>
                  <a:pt x="502832" y="1601480"/>
                </a:lnTo>
                <a:lnTo>
                  <a:pt x="499921" y="1601480"/>
                </a:lnTo>
                <a:lnTo>
                  <a:pt x="496019" y="1557922"/>
                </a:lnTo>
                <a:lnTo>
                  <a:pt x="491341" y="1512249"/>
                </a:lnTo>
                <a:lnTo>
                  <a:pt x="485965" y="1464674"/>
                </a:lnTo>
                <a:lnTo>
                  <a:pt x="479969" y="1415409"/>
                </a:lnTo>
                <a:lnTo>
                  <a:pt x="473431" y="1364665"/>
                </a:lnTo>
                <a:lnTo>
                  <a:pt x="466427" y="1312654"/>
                </a:lnTo>
                <a:lnTo>
                  <a:pt x="451336" y="1205682"/>
                </a:lnTo>
                <a:lnTo>
                  <a:pt x="402972" y="876419"/>
                </a:lnTo>
                <a:lnTo>
                  <a:pt x="395275" y="822550"/>
                </a:lnTo>
                <a:lnTo>
                  <a:pt x="281907" y="0"/>
                </a:lnTo>
                <a:lnTo>
                  <a:pt x="0" y="0"/>
                </a:lnTo>
                <a:lnTo>
                  <a:pt x="340052" y="1941563"/>
                </a:lnTo>
                <a:lnTo>
                  <a:pt x="659770" y="1941563"/>
                </a:lnTo>
                <a:lnTo>
                  <a:pt x="994022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856915" y="4683506"/>
            <a:ext cx="264795" cy="1499870"/>
          </a:xfrm>
          <a:custGeom>
            <a:avLst/>
            <a:gdLst/>
            <a:ahLst/>
            <a:cxnLst/>
            <a:rect l="l" t="t" r="r" b="b"/>
            <a:pathLst>
              <a:path w="264795" h="1499870">
                <a:moveTo>
                  <a:pt x="264494" y="0"/>
                </a:moveTo>
                <a:lnTo>
                  <a:pt x="0" y="0"/>
                </a:lnTo>
                <a:lnTo>
                  <a:pt x="12083" y="1499744"/>
                </a:lnTo>
                <a:lnTo>
                  <a:pt x="252379" y="1499744"/>
                </a:lnTo>
                <a:lnTo>
                  <a:pt x="264494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856916" y="6386716"/>
            <a:ext cx="264795" cy="238760"/>
          </a:xfrm>
          <a:custGeom>
            <a:avLst/>
            <a:gdLst/>
            <a:ahLst/>
            <a:cxnLst/>
            <a:rect l="l" t="t" r="r" b="b"/>
            <a:pathLst>
              <a:path w="264795" h="238759">
                <a:moveTo>
                  <a:pt x="264494" y="0"/>
                </a:moveTo>
                <a:lnTo>
                  <a:pt x="0" y="0"/>
                </a:lnTo>
                <a:lnTo>
                  <a:pt x="0" y="238338"/>
                </a:lnTo>
                <a:lnTo>
                  <a:pt x="264494" y="238338"/>
                </a:lnTo>
                <a:lnTo>
                  <a:pt x="264494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4aef451-6ca1-4671-b6e9-da5858687632" xsi:nil="true"/>
    <lcf76f155ced4ddcb4097134ff3c332f xmlns="4a6b283e-9f06-4a40-a98a-36a7eb9f1b2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73B8224E51A04D9E09AD8215120927" ma:contentTypeVersion="12" ma:contentTypeDescription="Crie um novo documento." ma:contentTypeScope="" ma:versionID="b54180f3b708114bdf0fe9a0869a366f">
  <xsd:schema xmlns:xsd="http://www.w3.org/2001/XMLSchema" xmlns:xs="http://www.w3.org/2001/XMLSchema" xmlns:p="http://schemas.microsoft.com/office/2006/metadata/properties" xmlns:ns2="4a6b283e-9f06-4a40-a98a-36a7eb9f1b29" xmlns:ns3="b4aef451-6ca1-4671-b6e9-da5858687632" targetNamespace="http://schemas.microsoft.com/office/2006/metadata/properties" ma:root="true" ma:fieldsID="ecc94f529a6598a59237bf92fa6be22a" ns2:_="" ns3:_="">
    <xsd:import namespace="4a6b283e-9f06-4a40-a98a-36a7eb9f1b29"/>
    <xsd:import namespace="b4aef451-6ca1-4671-b6e9-da585868763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6b283e-9f06-4a40-a98a-36a7eb9f1b2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Marcações de imagem" ma:readOnly="false" ma:fieldId="{5cf76f15-5ced-4ddc-b409-7134ff3c332f}" ma:taxonomyMulti="true" ma:sspId="d0cb9159-243b-49fc-b982-65ba26c179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ef451-6ca1-4671-b6e9-da585868763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c90c1e4-984d-4c0c-891a-cf2466bd4b75}" ma:internalName="TaxCatchAll" ma:showField="CatchAllData" ma:web="b4aef451-6ca1-4671-b6e9-da58586876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18EF22-A87A-4620-80A5-12D905D19FB7}">
  <ds:schemaRefs>
    <ds:schemaRef ds:uri="http://schemas.microsoft.com/office/2006/metadata/properties"/>
    <ds:schemaRef ds:uri="http://schemas.microsoft.com/office/infopath/2007/PartnerControls"/>
    <ds:schemaRef ds:uri="b4aef451-6ca1-4671-b6e9-da5858687632"/>
    <ds:schemaRef ds:uri="4a6b283e-9f06-4a40-a98a-36a7eb9f1b29"/>
  </ds:schemaRefs>
</ds:datastoreItem>
</file>

<file path=customXml/itemProps2.xml><?xml version="1.0" encoding="utf-8"?>
<ds:datastoreItem xmlns:ds="http://schemas.openxmlformats.org/officeDocument/2006/customXml" ds:itemID="{BB835AED-6816-4B82-8213-205B11F527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374375-34DF-453C-8382-5E2EB23EAFF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415</Words>
  <Application>Microsoft Office PowerPoint</Application>
  <PresentationFormat>Personalizar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Calibri</vt:lpstr>
      <vt:lpstr>Neue Plak Extended Bold</vt:lpstr>
      <vt:lpstr>Neue Plak Extended Regular</vt:lpstr>
      <vt:lpstr>Neue Plak Text Light</vt:lpstr>
      <vt:lpstr>Office Theme</vt:lpstr>
      <vt:lpstr>COMO UTILIZAR O DASHBOARD FATURAMENTO SEMANAL PEDIDOS</vt:lpstr>
      <vt:lpstr>Acesso ao Dashboard</vt:lpstr>
      <vt:lpstr>Principais Componentes</vt:lpstr>
      <vt:lpstr>Considerações Finais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UTILIZAR O DASHBOARD DESEMPENHO DOS REPRESENTANTES</dc:title>
  <dc:creator>Nicolas Nagel</dc:creator>
  <cp:lastModifiedBy>Nicolas Nagel - Comercial</cp:lastModifiedBy>
  <cp:revision>2</cp:revision>
  <dcterms:created xsi:type="dcterms:W3CDTF">2024-02-22T17:02:34Z</dcterms:created>
  <dcterms:modified xsi:type="dcterms:W3CDTF">2025-01-21T12:04:13Z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2024-02-22T00:00:00Z</vt:filetime>
  </property>
  <property fmtid="{D5CDD505-2E9C-101B-9397-08002B2CF9AE}" pid="3" name="Creator">
    <vt:lpwstr>Adobe InDesign 19.0 (Windows)</vt:lpwstr>
  </property>
  <property fmtid="{D5CDD505-2E9C-101B-9397-08002B2CF9AE}" pid="4" name="LastSaved">
    <vt:filetime>2024-02-22T00:00:00Z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0x010100EE73B8224E51A04D9E09AD8215120927</vt:lpwstr>
  </property>
  <property fmtid="{D5CDD505-2E9C-101B-9397-08002B2CF9AE}" pid="7" name="Order">
    <vt:r8>15287000</vt:r8>
  </property>
  <property fmtid="{D5CDD505-2E9C-101B-9397-08002B2CF9AE}" pid="8" name="MediaServiceImageTags">
    <vt:lpwstr/>
  </property>
  <property fmtid="{D5CDD505-2E9C-101B-9397-08002B2CF9AE}" pid="9" name="xd_ProgID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bool>false</vt:bool>
  </property>
</Properties>
</file>